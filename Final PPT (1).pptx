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2" r:id="rId3"/>
    <p:sldId id="273" r:id="rId4"/>
    <p:sldId id="274" r:id="rId5"/>
    <p:sldId id="260" r:id="rId6"/>
    <p:sldId id="261" r:id="rId7"/>
    <p:sldId id="262" r:id="rId8"/>
    <p:sldId id="270" r:id="rId9"/>
    <p:sldId id="264" r:id="rId10"/>
    <p:sldId id="265" r:id="rId11"/>
    <p:sldId id="271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4204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24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19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77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40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48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inkedin.com/in/nirvish-soni-b51706379" TargetMode="External"/><Relationship Id="rId3" Type="http://schemas.openxmlformats.org/officeDocument/2006/relationships/hyperlink" Target="http://www.linkedin.com/in/harsh-panchal-bb2699377" TargetMode="External"/><Relationship Id="rId7" Type="http://schemas.openxmlformats.org/officeDocument/2006/relationships/hyperlink" Target="https://www.linkedin.com/in/noman-teli-0186b22a0?utm_source=share_via&amp;utm_content=profile&amp;utm_medium=member_androi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heman-darji-065177354?utm_source=share_via&amp;utm_content=profile&amp;utm_medium=member_android" TargetMode="External"/><Relationship Id="rId5" Type="http://schemas.openxmlformats.org/officeDocument/2006/relationships/hyperlink" Target="https://www.linkedin.com/in/aanya-pal-460a27382?utm_source=share_via&amp;utm_content=profile&amp;utm_medium=member_android" TargetMode="External"/><Relationship Id="rId4" Type="http://schemas.openxmlformats.org/officeDocument/2006/relationships/hyperlink" Target="https://www.linkedin.com/in/saud-rana-0b9a5a320?utm_source=share_via&amp;utm_content=profile&amp;utm_medium=member_ios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3657600" cy="3657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1828800" cy="1828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9436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94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36-HOUR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 ROUND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Night Route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</a:rPr>
              <a:t>AI-Powered Night Navigation — Routing Through Busy Roads for Safety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310128"/>
            <a:ext cx="36576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Core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Track: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Night Routes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97180" y="841248"/>
            <a:ext cx="502920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45720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</a:p>
          <a:p>
            <a:endParaRPr lang="en-IN" sz="1200" dirty="0"/>
          </a:p>
          <a:p>
            <a:r>
              <a:rPr lang="en-IN" sz="1200" dirty="0"/>
              <a:t>During night-time travel, navigation systems fail to account for personal safety, leading users through potentially unsafe routes. Real-time navigation prioritizes shortest or fastest routes, not safest </a:t>
            </a:r>
          </a:p>
          <a:p>
            <a:r>
              <a:rPr lang="en-IN" sz="1200" dirty="0"/>
              <a:t>Low-traffic or empty roads at night increase risk of: </a:t>
            </a:r>
          </a:p>
          <a:p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Crime and harassment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Lack of help in emergencies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Poor lighting and visibility </a:t>
            </a:r>
          </a:p>
          <a:p>
            <a:pPr lvl="1"/>
            <a:endParaRPr lang="en-IN" sz="1200" dirty="0"/>
          </a:p>
          <a:p>
            <a:r>
              <a:rPr lang="en-IN" sz="1200" dirty="0"/>
              <a:t>Users have no way to identify safe vs unsafe routes in current apps </a:t>
            </a:r>
          </a:p>
          <a:p>
            <a:r>
              <a:rPr lang="en-IN" sz="1200" dirty="0"/>
              <a:t>No integration of night-time </a:t>
            </a:r>
            <a:r>
              <a:rPr lang="en-IN" sz="1200" dirty="0" err="1"/>
              <a:t>behavioral</a:t>
            </a:r>
            <a:r>
              <a:rPr lang="en-IN" sz="1200" dirty="0"/>
              <a:t> patterns in routing systems </a:t>
            </a:r>
          </a:p>
          <a:p>
            <a:r>
              <a:rPr lang="en-IN" sz="1200" dirty="0"/>
              <a:t>These gaps directly impact personal safety. Users are often unknowingly routed through high-risk, isolated areas.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32120" y="841248"/>
            <a:ext cx="3291840" cy="118872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23560" y="95097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143M+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623560" y="15270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affected by disasters yearly (CRED, 2023)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32120" y="2212848"/>
            <a:ext cx="3291840" cy="118872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23560" y="232257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623560" y="2898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relief resources wasted due to poor coordination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3584448"/>
            <a:ext cx="3291840" cy="118872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369417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min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623560" y="4270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delay before first resource dispatch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5180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84124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Achieve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2336" y="1295203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73152" cy="10789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08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r>
              <a:rPr lang="en-IN" sz="1100" b="1" dirty="0">
                <a:solidFill>
                  <a:schemeClr val="accent1">
                    <a:lumMod val="50000"/>
                  </a:schemeClr>
                </a:solidFill>
              </a:rPr>
              <a:t>Prioritize safer routes at night</a:t>
            </a:r>
            <a:endParaRPr lang="en-US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" y="170078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50000"/>
                  </a:schemeClr>
                </a:solidFill>
              </a:rPr>
              <a:t>Design a navigation system that recommends routes with higher human activity and traffic, avoiding isolated and deserted roads</a:t>
            </a:r>
            <a:r>
              <a:rPr lang="en-US" sz="95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28032" y="1299038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98448"/>
            <a:ext cx="73152" cy="10789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408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r>
              <a:rPr lang="en-IN" sz="1100" b="1" dirty="0">
                <a:solidFill>
                  <a:schemeClr val="accent1">
                    <a:lumMod val="50000"/>
                  </a:schemeClr>
                </a:solidFill>
              </a:rPr>
              <a:t>User safety alerts</a:t>
            </a:r>
            <a:endParaRPr lang="en-US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65192" y="170078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50000"/>
                  </a:schemeClr>
                </a:solidFill>
              </a:rPr>
              <a:t>Provide warnings when entering low-traffic or potentially risky areas and suggest safer alternatives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505456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05456"/>
            <a:ext cx="73152" cy="10789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6151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</a:t>
            </a:r>
            <a:r>
              <a:rPr lang="en-IN" sz="1100" b="1" dirty="0">
                <a:solidFill>
                  <a:schemeClr val="accent1">
                    <a:lumMod val="50000"/>
                  </a:schemeClr>
                </a:solidFill>
              </a:rPr>
              <a:t>Real-time traffic-based safety analysis</a:t>
            </a:r>
            <a:endParaRPr lang="en-US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" y="29077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50000"/>
                  </a:schemeClr>
                </a:solidFill>
              </a:rPr>
              <a:t>Use live traffic data to identify safe and unsafe roads during night hours and update routes dynamically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00600" y="2505456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505456"/>
            <a:ext cx="73152" cy="10789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26151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</a:t>
            </a:r>
            <a:r>
              <a:rPr lang="en-IN" sz="1100" b="1" dirty="0">
                <a:solidFill>
                  <a:schemeClr val="accent1">
                    <a:lumMod val="50000"/>
                  </a:schemeClr>
                </a:solidFill>
              </a:rPr>
              <a:t>Adaptive learning system</a:t>
            </a:r>
            <a:endParaRPr lang="en-US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65192" y="29077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50000"/>
                  </a:schemeClr>
                </a:solidFill>
              </a:rPr>
              <a:t>Improve route suggestions over time using user feedback and changing traffic patterns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02336" y="3719248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712464"/>
            <a:ext cx="73152" cy="10789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822192"/>
            <a:ext cx="3931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r>
              <a:rPr lang="en-IN" sz="1100" b="1" dirty="0">
                <a:solidFill>
                  <a:schemeClr val="accent1">
                    <a:lumMod val="50000"/>
                  </a:schemeClr>
                </a:solidFill>
              </a:rPr>
              <a:t>Smart route optimization</a:t>
            </a:r>
          </a:p>
          <a:p>
            <a:endParaRPr lang="en-IN" sz="11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sz="1050" dirty="0">
                <a:solidFill>
                  <a:schemeClr val="bg2">
                    <a:lumMod val="50000"/>
                  </a:schemeClr>
                </a:solidFill>
              </a:rPr>
              <a:t>Balance safety and travel time so that routes are not only safe but also efficient</a:t>
            </a:r>
            <a:endParaRPr lang="en-IN" sz="105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4632" y="4114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3712464"/>
            <a:ext cx="42062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712464"/>
            <a:ext cx="73152" cy="10789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</a:t>
            </a:r>
            <a:r>
              <a:rPr lang="en-IN" sz="1100" b="1" dirty="0">
                <a:solidFill>
                  <a:schemeClr val="accent1">
                    <a:lumMod val="50000"/>
                  </a:schemeClr>
                </a:solidFill>
              </a:rPr>
              <a:t>Enhance user confidence</a:t>
            </a:r>
            <a:endParaRPr lang="en-US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965192" y="4114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50000"/>
                  </a:schemeClr>
                </a:solidFill>
              </a:rPr>
              <a:t>Help users feel more secure while traveling alone at night through reliable navigation support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24356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500" b="1" dirty="0">
                <a:solidFill>
                  <a:schemeClr val="accent1">
                    <a:lumMod val="50000"/>
                  </a:schemeClr>
                </a:solidFill>
              </a:rPr>
              <a:t>Safe-Route — Smarter Navigation for Safer Night Travel</a:t>
            </a:r>
            <a:endParaRPr lang="en-US" sz="15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4114800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</a:t>
            </a:r>
            <a:r>
              <a:rPr lang="en-IN" sz="1200" b="1" dirty="0"/>
              <a:t>Live Safe Route Mapping</a:t>
            </a:r>
            <a:endParaRPr lang="en-US" sz="1200" b="1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50000"/>
                  </a:schemeClr>
                </a:solidFill>
              </a:rPr>
              <a:t>Real-time mapping of roads based on night traffic density, identifying safer routes with higher activity and avoiding isolated areas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9446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41148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45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</a:t>
            </a:r>
            <a:r>
              <a:rPr lang="en-IN" sz="1200" b="1" dirty="0">
                <a:solidFill>
                  <a:schemeClr val="bg2">
                    <a:lumMod val="10000"/>
                  </a:schemeClr>
                </a:solidFill>
              </a:rPr>
              <a:t>Dynamic Route Adjustment</a:t>
            </a:r>
            <a:endParaRPr lang="en-US" sz="1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92040" y="19659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50000"/>
                  </a:schemeClr>
                </a:solidFill>
              </a:rPr>
              <a:t>Continuously updates routes based on live traffic changes, ensuring users are always directed through safer paths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200400"/>
            <a:ext cx="411480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</a:t>
            </a:r>
            <a:r>
              <a:rPr lang="en-IN" sz="1200" b="1" dirty="0"/>
              <a:t>AI-Based Safety Engine</a:t>
            </a:r>
            <a:endParaRPr lang="en-US" sz="1200" b="1" dirty="0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50000"/>
                  </a:schemeClr>
                </a:solidFill>
              </a:rPr>
              <a:t>Uses machine learning to </a:t>
            </a:r>
            <a:r>
              <a:rPr lang="en-IN" sz="1000" dirty="0" err="1">
                <a:solidFill>
                  <a:schemeClr val="bg2">
                    <a:lumMod val="50000"/>
                  </a:schemeClr>
                </a:solidFill>
              </a:rPr>
              <a:t>analyze</a:t>
            </a:r>
            <a:r>
              <a:rPr lang="en-IN" sz="1000" dirty="0">
                <a:solidFill>
                  <a:schemeClr val="bg2">
                    <a:lumMod val="50000"/>
                  </a:schemeClr>
                </a:solidFill>
              </a:rPr>
              <a:t> traffic patterns, time of day, and road usage to assign safety scores and recommend optimal routes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20040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200400"/>
            <a:ext cx="411480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</a:t>
            </a:r>
            <a:r>
              <a:rPr lang="en-IN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User-Centric Navigation Interface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92040" y="37947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50000"/>
                  </a:schemeClr>
                </a:solidFill>
              </a:rPr>
              <a:t>Simple and intuitive interface that highlights safe routes, gives alerts for low-traffic zones, and suggests better alternatives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90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491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41248"/>
            <a:ext cx="1627632" cy="411480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41248"/>
            <a:ext cx="162763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412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" y="1325880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325880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React Native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2608" y="2039112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03911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2608" y="2752344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75234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GL JS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2608" y="3465576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346557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/ Service Worker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956816" y="841248"/>
            <a:ext cx="1627632" cy="411480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56816" y="841248"/>
            <a:ext cx="162763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56816" y="8412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66544" y="1325880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66544" y="1325880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66544" y="2039112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66544" y="203911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(AI services)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66544" y="2752344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66544" y="275234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(Socket.io)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66544" y="3465576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66544" y="346557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APIs+ Firebase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30752" y="841248"/>
            <a:ext cx="1627632" cy="411480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30752" y="841248"/>
            <a:ext cx="162763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8412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1325880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1325880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(triage model)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40480" y="2039112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203911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(NLP parsing)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40480" y="2752344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275234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(route optimization)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40480" y="3465576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346557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(mobile)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04688" y="841248"/>
            <a:ext cx="1627632" cy="411480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04688" y="841248"/>
            <a:ext cx="162763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04688" y="8412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Infra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14416" y="1325880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14416" y="1325880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14416" y="2039112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14416" y="203911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(pub/sub)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614416" y="2752344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14416" y="275234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(real-time sync)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14416" y="3465576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14416" y="346557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Render.com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278624" y="841248"/>
            <a:ext cx="1627632" cy="411480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278624" y="841248"/>
            <a:ext cx="1627632" cy="3474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78624" y="8412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88352" y="1325880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88352" y="1325880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 API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388352" y="2039112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88352" y="203911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388352" y="2752344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88352" y="275234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388352" y="3465576"/>
            <a:ext cx="1408176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88352" y="346557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/ OpenStreetMap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572768" y="2423160"/>
            <a:ext cx="20116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9232" y="2423160"/>
            <a:ext cx="20116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25696" y="2423160"/>
            <a:ext cx="20116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2423160"/>
            <a:ext cx="20116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78624" y="2423160"/>
            <a:ext cx="20116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822960"/>
            <a:ext cx="1316736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" y="8961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" y="19202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Sprint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(0–4 hrs)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2542032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/>
              <a:t>Define personas, night-time risk scenarios, KPIs, MVP scope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82496" y="822960"/>
            <a:ext cx="1316736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21408" y="8961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1408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73936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73936" y="19202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Prototype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(4–10 hrs)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73936" y="2542032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/>
              <a:t>Figma wireframes for Safe Night Mode UI, route comparison, heatmap dashboard</a:t>
            </a:r>
          </a:p>
        </p:txBody>
      </p:sp>
      <p:sp>
        <p:nvSpPr>
          <p:cNvPr id="22" name="Shape 20"/>
          <p:cNvSpPr/>
          <p:nvPr/>
        </p:nvSpPr>
        <p:spPr>
          <a:xfrm>
            <a:off x="3108960" y="822960"/>
            <a:ext cx="1316736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47872" y="8961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0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200400" y="19202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 Build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(10–24 hrs)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2542032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/>
              <a:t>Routing engine with density scoring, </a:t>
            </a:r>
            <a:r>
              <a:rPr lang="en-US" sz="800" dirty="0" err="1"/>
              <a:t>Mapbox</a:t>
            </a:r>
            <a:r>
              <a:rPr lang="en-US" sz="800" dirty="0"/>
              <a:t> + OSRM integration, WebSocket live feed</a:t>
            </a:r>
          </a:p>
        </p:txBody>
      </p:sp>
      <p:sp>
        <p:nvSpPr>
          <p:cNvPr id="28" name="Shape 26"/>
          <p:cNvSpPr/>
          <p:nvPr/>
        </p:nvSpPr>
        <p:spPr>
          <a:xfrm>
            <a:off x="4535424" y="822960"/>
            <a:ext cx="1316736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74336" y="8961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26864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626864" y="19202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(24–30 hrs)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26864" y="2542032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/>
              <a:t>Train safety scoring model, integrate crime + density data, heatmap pipeline</a:t>
            </a:r>
          </a:p>
        </p:txBody>
      </p:sp>
      <p:sp>
        <p:nvSpPr>
          <p:cNvPr id="34" name="Shape 32"/>
          <p:cNvSpPr/>
          <p:nvPr/>
        </p:nvSpPr>
        <p:spPr>
          <a:xfrm>
            <a:off x="5961888" y="822960"/>
            <a:ext cx="1316736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8961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53328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053328" y="19202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QA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(30–34 hrs)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53328" y="2542032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/>
              <a:t>Test routing accuracy, night-mode switching, simulate 3 city zones</a:t>
            </a:r>
          </a:p>
        </p:txBody>
      </p:sp>
      <p:sp>
        <p:nvSpPr>
          <p:cNvPr id="40" name="Shape 38"/>
          <p:cNvSpPr/>
          <p:nvPr/>
        </p:nvSpPr>
        <p:spPr>
          <a:xfrm>
            <a:off x="7388352" y="822960"/>
            <a:ext cx="1316736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827264" y="8961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27264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79792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479792" y="192024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(34–36 hrs)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79792" y="2542032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/>
              <a:t>Polish UI, record demo, </a:t>
            </a:r>
            <a:r>
              <a:rPr lang="en-US" sz="800" dirty="0" err="1"/>
              <a:t>finalise</a:t>
            </a:r>
            <a:r>
              <a:rPr lang="en-US" sz="800" dirty="0"/>
              <a:t> pitch with live route comparison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/ System Flowchart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645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Worker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1993392"/>
            <a:ext cx="228600" cy="731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164592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74520" y="1645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993392"/>
            <a:ext cx="228600" cy="731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64592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645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Parser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1993392"/>
            <a:ext cx="228600" cy="731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164592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1645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46520" y="1993392"/>
            <a:ext cx="228600" cy="731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164592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645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Engine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2011680" cy="73152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Live Incident Map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0" y="3063240"/>
            <a:ext cx="2011680" cy="731520"/>
          </a:xfrm>
          <a:prstGeom prst="rect">
            <a:avLst/>
          </a:prstGeom>
          <a:solidFill>
            <a:srgbClr val="0D948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🚑 Responder Alert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063240"/>
            <a:ext cx="2011680" cy="731520"/>
          </a:xfrm>
          <a:prstGeom prst="rect">
            <a:avLst/>
          </a:prstGeom>
          <a:solidFill>
            <a:srgbClr val="7C3AED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Citizen Status Update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3063240"/>
            <a:ext cx="2011680" cy="731520"/>
          </a:xfrm>
          <a:prstGeom prst="rect">
            <a:avLst/>
          </a:prstGeom>
          <a:solidFill>
            <a:srgbClr val="E11D4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Command Dashboard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51560" y="2423160"/>
            <a:ext cx="54864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423160"/>
            <a:ext cx="54864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2423160"/>
            <a:ext cx="54864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60920" y="2423160"/>
            <a:ext cx="54864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Citizen/Field Input → AI Processing → Smart Dispatch → Multi-Dashboard Output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128016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50" b="1" dirty="0" smtClean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05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USP </a:t>
            </a: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&amp; Key Benefits</a:t>
            </a:r>
            <a:endParaRPr lang="en-US" sz="1050" dirty="0"/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SafePulse?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15214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people. Real nights. Real safety.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27632"/>
            <a:ext cx="2606040" cy="859536"/>
          </a:xfrm>
          <a:prstGeom prst="rect">
            <a:avLst/>
          </a:prstGeom>
          <a:solidFill>
            <a:srgbClr val="2A1525"/>
          </a:solidFill>
          <a:ln w="19050">
            <a:solidFill>
              <a:srgbClr val="FF6B9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627632"/>
            <a:ext cx="64008" cy="859536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38528" y="1700784"/>
            <a:ext cx="1005840" cy="20116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8528" y="17007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</a:t>
            </a:r>
            <a:endParaRPr lang="en-US" sz="7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82880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61288" y="1773936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traveling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 at night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182112" y="1627632"/>
            <a:ext cx="2606040" cy="859536"/>
          </a:xfrm>
          <a:prstGeom prst="rect">
            <a:avLst/>
          </a:prstGeom>
          <a:solidFill>
            <a:srgbClr val="251E0F"/>
          </a:solidFill>
          <a:ln w="10160">
            <a:solidFill>
              <a:srgbClr val="FFB3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82112" y="1627632"/>
            <a:ext cx="64008" cy="859536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18288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31920" y="1773936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delivery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952744" y="1627632"/>
            <a:ext cx="2606040" cy="859536"/>
          </a:xfrm>
          <a:prstGeom prst="rect">
            <a:avLst/>
          </a:prstGeom>
          <a:solidFill>
            <a:srgbClr val="0F2225"/>
          </a:solidFill>
          <a:ln w="10160">
            <a:solidFill>
              <a:srgbClr val="7EC8C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952744" y="1627632"/>
            <a:ext cx="64008" cy="859536"/>
          </a:xfrm>
          <a:prstGeom prst="rect">
            <a:avLst/>
          </a:prstGeom>
          <a:solidFill>
            <a:srgbClr val="7EC8C8"/>
          </a:solidFill>
          <a:ln w="12700">
            <a:solidFill>
              <a:srgbClr val="7EC8C8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18288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02552" y="1773936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walking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hostel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11480" y="2615184"/>
            <a:ext cx="2606040" cy="859536"/>
          </a:xfrm>
          <a:prstGeom prst="rect">
            <a:avLst/>
          </a:prstGeom>
          <a:solidFill>
            <a:srgbClr val="1A1530"/>
          </a:solidFill>
          <a:ln w="10160">
            <a:solidFill>
              <a:srgbClr val="A78BF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11480" y="2615184"/>
            <a:ext cx="64008" cy="8595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2816352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61288" y="27614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in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cities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3182112" y="2615184"/>
            <a:ext cx="2606040" cy="859536"/>
          </a:xfrm>
          <a:prstGeom prst="rect">
            <a:avLst/>
          </a:prstGeom>
          <a:solidFill>
            <a:srgbClr val="102518"/>
          </a:solidFill>
          <a:ln w="10160">
            <a:solidFill>
              <a:srgbClr val="60D39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182112" y="2615184"/>
            <a:ext cx="64008" cy="859536"/>
          </a:xfrm>
          <a:prstGeom prst="rect">
            <a:avLst/>
          </a:prstGeom>
          <a:solidFill>
            <a:srgbClr val="60D394"/>
          </a:solidFill>
          <a:ln w="12700">
            <a:solidFill>
              <a:srgbClr val="60D394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2816352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31920" y="27614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shift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commuters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952744" y="2615184"/>
            <a:ext cx="2606040" cy="859536"/>
          </a:xfrm>
          <a:prstGeom prst="rect">
            <a:avLst/>
          </a:prstGeom>
          <a:solidFill>
            <a:srgbClr val="251025"/>
          </a:solidFill>
          <a:ln w="10160">
            <a:solidFill>
              <a:srgbClr val="F9A8D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952744" y="2615184"/>
            <a:ext cx="64008" cy="859536"/>
          </a:xfrm>
          <a:prstGeom prst="rect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9048" y="2816352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02552" y="27614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planners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411480" y="3456432"/>
            <a:ext cx="2606040" cy="1024128"/>
          </a:xfrm>
          <a:prstGeom prst="rect">
            <a:avLst/>
          </a:prstGeom>
          <a:solidFill>
            <a:srgbClr val="2A1525"/>
          </a:solidFill>
          <a:ln w="12700">
            <a:solidFill>
              <a:srgbClr val="FF6B9D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11480" y="3456432"/>
            <a:ext cx="2606040" cy="5029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639312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33272" y="3547872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Crime Risk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539496" y="4005072"/>
            <a:ext cx="2404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through populated, lit areas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A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deter criminal activity at night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182112" y="3456432"/>
            <a:ext cx="2606040" cy="1024128"/>
          </a:xfrm>
          <a:prstGeom prst="rect">
            <a:avLst/>
          </a:prstGeom>
          <a:solidFill>
            <a:srgbClr val="251E0F"/>
          </a:solidFill>
          <a:ln w="12700">
            <a:solidFill>
              <a:srgbClr val="FFB347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3182112" y="3456432"/>
            <a:ext cx="2606040" cy="5029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3639312"/>
            <a:ext cx="384048" cy="38404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803904" y="3547872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Driver Safety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3310128" y="4005072"/>
            <a:ext cx="2404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Zomato &amp; Swiggy riders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A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safer late-night delivery routes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5952744" y="3456432"/>
            <a:ext cx="2606040" cy="1024128"/>
          </a:xfrm>
          <a:prstGeom prst="rect">
            <a:avLst/>
          </a:prstGeom>
          <a:solidFill>
            <a:srgbClr val="0A2520"/>
          </a:solidFill>
          <a:ln w="1270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5952744" y="3456432"/>
            <a:ext cx="260604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9904" y="3639312"/>
            <a:ext cx="384048" cy="38404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574536" y="3547872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Ready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6080760" y="4005072"/>
            <a:ext cx="2404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city CCTV, streetlight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A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municipal safety infrastructure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1422"/>
          </a:solidFill>
          <a:ln w="12700">
            <a:solidFill>
              <a:srgbClr val="081422"/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411480" y="4873752"/>
            <a:ext cx="83210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SafePulse  •  Navigate Safe. Navigate Smart.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411480" y="4873752"/>
            <a:ext cx="832104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safepulse.app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9318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Differentiation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778240" cy="332841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Existing Solutions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SmartAid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smtClean="0">
                          <a:solidFill>
                            <a:srgbClr val="1A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Traffic-based safe routing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smtClean="0">
                          <a:solidFill>
                            <a:srgbClr val="D9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Uses fastest / shortest route only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 smtClean="0">
                          <a:solidFill>
                            <a:srgbClr val="008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Routes through high-density,</a:t>
                      </a:r>
                      <a:endParaRPr lang="en-US" sz="1000" dirty="0" smtClean="0"/>
                    </a:p>
                    <a:p>
                      <a:pPr marL="0" indent="0" algn="l">
                        <a:buNone/>
                      </a:pPr>
                      <a:r>
                        <a:rPr lang="en-US" sz="1000" b="1" dirty="0" smtClean="0">
                          <a:solidFill>
                            <a:srgbClr val="008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busy roads at night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smtClean="0">
                          <a:solidFill>
                            <a:srgbClr val="1A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Night-time crowd detection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smtClean="0">
                          <a:solidFill>
                            <a:srgbClr val="D9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 crowd density awareness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 smtClean="0">
                          <a:solidFill>
                            <a:srgbClr val="008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YOLOv8 AI detects live</a:t>
                      </a:r>
                      <a:endParaRPr lang="en-US" sz="1000" dirty="0" smtClean="0"/>
                    </a:p>
                    <a:p>
                      <a:pPr marL="0" indent="0" algn="l">
                        <a:buNone/>
                      </a:pPr>
                      <a:r>
                        <a:rPr lang="en-US" sz="1000" b="1" dirty="0" smtClean="0">
                          <a:solidFill>
                            <a:srgbClr val="008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crowd &amp; vehicle density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smtClean="0">
                          <a:solidFill>
                            <a:srgbClr val="1A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Streetlight &amp; CCTV scoring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smtClean="0">
                          <a:solidFill>
                            <a:srgbClr val="B07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 Not considered in routing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 smtClean="0">
                          <a:solidFill>
                            <a:srgbClr val="008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</a:t>
                      </a:r>
                      <a:r>
                        <a:rPr lang="en-US" sz="1000" b="1" dirty="0" err="1" smtClean="0">
                          <a:solidFill>
                            <a:srgbClr val="008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OpenStreetMap</a:t>
                      </a:r>
                      <a:r>
                        <a:rPr lang="en-US" sz="1000" b="1" dirty="0" smtClean="0">
                          <a:solidFill>
                            <a:srgbClr val="008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safety</a:t>
                      </a:r>
                      <a:endParaRPr lang="en-US" sz="1000" dirty="0" smtClean="0"/>
                    </a:p>
                    <a:p>
                      <a:pPr marL="0" indent="0" algn="l">
                        <a:buNone/>
                      </a:pPr>
                      <a:r>
                        <a:rPr lang="en-US" sz="1000" b="1" dirty="0" smtClean="0">
                          <a:solidFill>
                            <a:srgbClr val="008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infrastructure scoring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smtClean="0">
                          <a:solidFill>
                            <a:srgbClr val="1A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danger reports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smtClean="0">
                          <a:solidFill>
                            <a:srgbClr val="B07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 Limited or absent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 smtClean="0">
                          <a:solidFill>
                            <a:srgbClr val="008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Crowd-sourced real-time</a:t>
                      </a:r>
                      <a:endParaRPr lang="en-US" sz="1000" dirty="0" smtClean="0"/>
                    </a:p>
                    <a:p>
                      <a:pPr marL="0" indent="0" algn="l">
                        <a:buNone/>
                      </a:pPr>
                      <a:r>
                        <a:rPr lang="en-US" sz="1000" b="1" dirty="0" smtClean="0">
                          <a:solidFill>
                            <a:srgbClr val="008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safety alerts (like Waze)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smtClean="0">
                          <a:solidFill>
                            <a:srgbClr val="1A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 &amp; live location sharing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smtClean="0">
                          <a:solidFill>
                            <a:srgbClr val="D9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Not integrated in maps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 smtClean="0">
                          <a:solidFill>
                            <a:srgbClr val="008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One-tap SOS + auto-share</a:t>
                      </a:r>
                      <a:endParaRPr lang="en-US" sz="1000" dirty="0" smtClean="0"/>
                    </a:p>
                    <a:p>
                      <a:pPr marL="0" indent="0" algn="l">
                        <a:buNone/>
                      </a:pPr>
                      <a:r>
                        <a:rPr lang="en-US" sz="1000" b="1" dirty="0" smtClean="0">
                          <a:solidFill>
                            <a:srgbClr val="008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to trusted contacts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smtClean="0">
                          <a:solidFill>
                            <a:srgbClr val="1A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shop / POI safety layer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smtClean="0">
                          <a:solidFill>
                            <a:srgbClr val="B07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 No safety-based POI filter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 smtClean="0">
                          <a:solidFill>
                            <a:srgbClr val="008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Google Places — lit shops,</a:t>
                      </a:r>
                      <a:endParaRPr lang="en-US" sz="1000" dirty="0" smtClean="0"/>
                    </a:p>
                    <a:p>
                      <a:pPr marL="0" indent="0" algn="l">
                        <a:buNone/>
                      </a:pPr>
                      <a:r>
                        <a:rPr lang="en-US" sz="1000" b="1" dirty="0" smtClean="0">
                          <a:solidFill>
                            <a:srgbClr val="008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</a:t>
                      </a:r>
                      <a:r>
                        <a:rPr lang="en-US" sz="1000" b="1" dirty="0" err="1" smtClean="0">
                          <a:solidFill>
                            <a:srgbClr val="008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dhabas</a:t>
                      </a:r>
                      <a:r>
                        <a:rPr lang="en-US" sz="1000" b="1" dirty="0" smtClean="0">
                          <a:solidFill>
                            <a:srgbClr val="008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hospitals shown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27889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41248"/>
            <a:ext cx="2788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412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(3–6 months)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148132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4475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rollout across</a:t>
            </a:r>
            <a:endParaRPr lang="en-US" sz="1000" dirty="0"/>
          </a:p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Indian metros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23113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1945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SOS integration</a:t>
            </a:r>
            <a:endParaRPr lang="en-US" sz="1000" dirty="0"/>
          </a:p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(smartwatch panic button)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98094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9443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— cached safe</a:t>
            </a:r>
            <a:endParaRPr lang="en-US" sz="1000" dirty="0"/>
          </a:p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without internet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373075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69417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000" dirty="0"/>
          </a:p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(Hindi, Gujarati, Tamil, Bengali)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841248"/>
            <a:ext cx="27889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841248"/>
            <a:ext cx="2788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8412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(6–12 months)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148132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144475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predictive danger</a:t>
            </a:r>
            <a:endParaRPr lang="en-US" sz="1000" dirty="0"/>
          </a:p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forecasting by hour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23113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1945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city police</a:t>
            </a:r>
            <a:endParaRPr lang="en-US" sz="1000" dirty="0"/>
          </a:p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rooms &amp; 112 India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98094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9443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of city roads for</a:t>
            </a:r>
            <a:endParaRPr lang="en-US" sz="1000" dirty="0"/>
          </a:p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pre-event safety simulation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73075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69417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 err="1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</a:t>
            </a: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mesh for zero-internet</a:t>
            </a:r>
            <a:endParaRPr lang="en-US" sz="1000" dirty="0"/>
          </a:p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zones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44768" y="841248"/>
            <a:ext cx="27889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44768" y="841248"/>
            <a:ext cx="2788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8412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(12–24 months)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27648" y="148132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144475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expansion to 50+</a:t>
            </a:r>
            <a:endParaRPr lang="en-US" sz="1000" dirty="0"/>
          </a:p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via UN partnerships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27648" y="223113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21945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— improves</a:t>
            </a:r>
            <a:endParaRPr lang="en-US" sz="1000" dirty="0"/>
          </a:p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without centralizing data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27648" y="298094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29443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 err="1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SafePulse</a:t>
            </a: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SDK for third-party</a:t>
            </a:r>
            <a:endParaRPr lang="en-US" sz="1000" dirty="0"/>
          </a:p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&amp; delivery app integration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27648" y="373075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3694176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community safety</a:t>
            </a:r>
            <a:endParaRPr lang="en-US" sz="1000" dirty="0"/>
          </a:p>
          <a:p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for active reporters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" y="5010912"/>
            <a:ext cx="8631936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56032" y="5010912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i="1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Ultimate Vision: </a:t>
            </a:r>
            <a:r>
              <a:rPr lang="en-US" sz="1000" i="1" dirty="0" err="1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SafePulse</a:t>
            </a:r>
            <a:r>
              <a:rPr lang="en-US" sz="1000" i="1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becomes the global standard for night navigation — adopted by 100+ smart cities by 2030.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549908" y="841248"/>
            <a:ext cx="18745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52D472E-9740-E431-73E6-4A1FD0794E2F}"/>
              </a:ext>
            </a:extLst>
          </p:cNvPr>
          <p:cNvGrpSpPr/>
          <p:nvPr/>
        </p:nvGrpSpPr>
        <p:grpSpPr>
          <a:xfrm>
            <a:off x="2160047" y="1011717"/>
            <a:ext cx="653614" cy="653614"/>
            <a:chOff x="2160046" y="1011717"/>
            <a:chExt cx="653614" cy="653614"/>
          </a:xfrm>
        </p:grpSpPr>
        <p:sp>
          <p:nvSpPr>
            <p:cNvPr id="6" name="Shape 4"/>
            <p:cNvSpPr/>
            <p:nvPr/>
          </p:nvSpPr>
          <p:spPr>
            <a:xfrm>
              <a:off x="2160046" y="1011717"/>
              <a:ext cx="653614" cy="653614"/>
            </a:xfrm>
            <a:prstGeom prst="ellipse">
              <a:avLst/>
            </a:prstGeom>
            <a:solidFill>
              <a:srgbClr val="1E3A5F"/>
            </a:solidFill>
            <a:ln w="317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2160046" y="1011717"/>
              <a:ext cx="653614" cy="65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SR</a:t>
              </a:r>
              <a:endParaRPr lang="en-US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1641348" y="1691463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84248" y="2002359"/>
            <a:ext cx="1005840" cy="9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1348" y="1931493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smtClean="0">
                <a:solidFill>
                  <a:srgbClr val="2463EC"/>
                </a:solidFill>
              </a:rPr>
              <a:t>AIML-A </a:t>
            </a:r>
            <a:r>
              <a:rPr lang="en-US" sz="900" b="1" dirty="0">
                <a:solidFill>
                  <a:srgbClr val="2463EC"/>
                </a:solidFill>
              </a:rPr>
              <a:t>/ 4th Sem</a:t>
            </a:r>
          </a:p>
        </p:txBody>
      </p:sp>
      <p:sp>
        <p:nvSpPr>
          <p:cNvPr id="14" name="Shape 12"/>
          <p:cNvSpPr/>
          <p:nvPr/>
        </p:nvSpPr>
        <p:spPr>
          <a:xfrm>
            <a:off x="3605246" y="841248"/>
            <a:ext cx="18745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D47DD21-2ED5-F969-4F29-6167DC453637}"/>
              </a:ext>
            </a:extLst>
          </p:cNvPr>
          <p:cNvGrpSpPr/>
          <p:nvPr/>
        </p:nvGrpSpPr>
        <p:grpSpPr>
          <a:xfrm>
            <a:off x="4244879" y="1011717"/>
            <a:ext cx="653614" cy="653614"/>
            <a:chOff x="4244878" y="1011717"/>
            <a:chExt cx="653614" cy="653614"/>
          </a:xfrm>
        </p:grpSpPr>
        <p:sp>
          <p:nvSpPr>
            <p:cNvPr id="15" name="Shape 13"/>
            <p:cNvSpPr/>
            <p:nvPr/>
          </p:nvSpPr>
          <p:spPr>
            <a:xfrm>
              <a:off x="4244878" y="1011717"/>
              <a:ext cx="653614" cy="653614"/>
            </a:xfrm>
            <a:prstGeom prst="ellipse">
              <a:avLst/>
            </a:prstGeom>
            <a:solidFill>
              <a:srgbClr val="1E3A5F"/>
            </a:solidFill>
            <a:ln w="31750">
              <a:solidFill>
                <a:schemeClr val="accent4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244878" y="1011717"/>
              <a:ext cx="653614" cy="65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AP</a:t>
              </a:r>
              <a:endParaRPr lang="en-US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3726180" y="1691463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err="1" smtClean="0"/>
              <a:t>Aanya</a:t>
            </a:r>
            <a:r>
              <a:rPr lang="en-US" sz="1100" dirty="0" smtClean="0"/>
              <a:t> Pal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69080" y="2002359"/>
            <a:ext cx="1005840" cy="9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26180" y="1931493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smtClean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Gen-Ai - B </a:t>
            </a: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b="1" dirty="0" smtClean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2th </a:t>
            </a: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19572" y="841248"/>
            <a:ext cx="18745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DE5F36A-06C3-EBAD-36B2-7B50EFA20447}"/>
              </a:ext>
            </a:extLst>
          </p:cNvPr>
          <p:cNvGrpSpPr/>
          <p:nvPr/>
        </p:nvGrpSpPr>
        <p:grpSpPr>
          <a:xfrm>
            <a:off x="6329711" y="1011717"/>
            <a:ext cx="653614" cy="653614"/>
            <a:chOff x="6329710" y="1011717"/>
            <a:chExt cx="653614" cy="653614"/>
          </a:xfrm>
        </p:grpSpPr>
        <p:sp>
          <p:nvSpPr>
            <p:cNvPr id="24" name="Shape 22"/>
            <p:cNvSpPr/>
            <p:nvPr/>
          </p:nvSpPr>
          <p:spPr>
            <a:xfrm>
              <a:off x="6329710" y="1011717"/>
              <a:ext cx="653614" cy="653614"/>
            </a:xfrm>
            <a:prstGeom prst="ellipse">
              <a:avLst/>
            </a:prstGeom>
            <a:solidFill>
              <a:srgbClr val="1E3A5F"/>
            </a:solidFill>
            <a:ln w="31750">
              <a:solidFill>
                <a:schemeClr val="accent2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6329710" y="1011717"/>
              <a:ext cx="653614" cy="65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BS</a:t>
              </a:r>
              <a:endParaRPr lang="en-US" dirty="0"/>
            </a:p>
          </p:txBody>
        </p:sp>
      </p:grpSp>
      <p:sp>
        <p:nvSpPr>
          <p:cNvPr id="26" name="Text 24"/>
          <p:cNvSpPr/>
          <p:nvPr/>
        </p:nvSpPr>
        <p:spPr>
          <a:xfrm>
            <a:off x="5811012" y="1691463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err="1" smtClean="0"/>
              <a:t>Bhumika</a:t>
            </a:r>
            <a:r>
              <a:rPr lang="en-US" sz="1100" dirty="0" smtClean="0"/>
              <a:t> Singh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53912" y="2002359"/>
            <a:ext cx="1005840" cy="9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11012" y="1931493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Gen-Ai - B / 2th </a:t>
            </a:r>
            <a:r>
              <a:rPr lang="en-US" sz="900" b="1" dirty="0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endParaRPr lang="en-US" sz="900"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9921D6E-045A-038E-AC77-99A32B69145B}"/>
              </a:ext>
            </a:extLst>
          </p:cNvPr>
          <p:cNvGrpSpPr/>
          <p:nvPr/>
        </p:nvGrpSpPr>
        <p:grpSpPr>
          <a:xfrm>
            <a:off x="2080260" y="2342973"/>
            <a:ext cx="804672" cy="256032"/>
            <a:chOff x="2080260" y="2361261"/>
            <a:chExt cx="804672" cy="256032"/>
          </a:xfrm>
        </p:grpSpPr>
        <p:sp>
          <p:nvSpPr>
            <p:cNvPr id="12" name="Shape 10">
              <a:hlinkClick r:id="rId3"/>
            </p:cNvPr>
            <p:cNvSpPr/>
            <p:nvPr/>
          </p:nvSpPr>
          <p:spPr>
            <a:xfrm>
              <a:off x="2080260" y="2361261"/>
              <a:ext cx="804672" cy="256032"/>
            </a:xfrm>
            <a:prstGeom prst="roundRect">
              <a:avLst>
                <a:gd name="adj" fmla="val 1785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2080260" y="2361261"/>
              <a:ext cx="80467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50" b="1" dirty="0" smtClean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4"/>
                </a:rPr>
                <a:t>LinkedIn</a:t>
              </a:r>
              <a:r>
                <a:rPr lang="en-US" sz="750" b="1" dirty="0" smtClean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75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↗</a:t>
              </a:r>
              <a:endParaRPr lang="en-US" sz="75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35DA963-10B9-E741-EC45-37C57D03F66F}"/>
              </a:ext>
            </a:extLst>
          </p:cNvPr>
          <p:cNvSpPr txBox="1"/>
          <p:nvPr/>
        </p:nvSpPr>
        <p:spPr>
          <a:xfrm>
            <a:off x="942715" y="30961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7" name="Text 6">
            <a:extLst>
              <a:ext uri="{FF2B5EF4-FFF2-40B4-BE49-F238E27FC236}">
                <a16:creationId xmlns:a16="http://schemas.microsoft.com/office/drawing/2014/main" id="{09433693-1C03-C256-157E-64F19A0DAAC0}"/>
              </a:ext>
            </a:extLst>
          </p:cNvPr>
          <p:cNvSpPr/>
          <p:nvPr/>
        </p:nvSpPr>
        <p:spPr>
          <a:xfrm>
            <a:off x="1641348" y="3552117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Nirvish Soni</a:t>
            </a:r>
            <a:endParaRPr lang="en-US" sz="1100" dirty="0"/>
          </a:p>
        </p:txBody>
      </p:sp>
      <p:sp>
        <p:nvSpPr>
          <p:cNvPr id="58" name="Shape 7">
            <a:extLst>
              <a:ext uri="{FF2B5EF4-FFF2-40B4-BE49-F238E27FC236}">
                <a16:creationId xmlns:a16="http://schemas.microsoft.com/office/drawing/2014/main" id="{7E637408-351B-44F7-2331-1C0612C939F6}"/>
              </a:ext>
            </a:extLst>
          </p:cNvPr>
          <p:cNvSpPr/>
          <p:nvPr/>
        </p:nvSpPr>
        <p:spPr>
          <a:xfrm>
            <a:off x="1984248" y="3863013"/>
            <a:ext cx="1005840" cy="9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Text 8">
            <a:extLst>
              <a:ext uri="{FF2B5EF4-FFF2-40B4-BE49-F238E27FC236}">
                <a16:creationId xmlns:a16="http://schemas.microsoft.com/office/drawing/2014/main" id="{B5F49294-7DFB-FB7E-DD5B-3A3F18774275}"/>
              </a:ext>
            </a:extLst>
          </p:cNvPr>
          <p:cNvSpPr/>
          <p:nvPr/>
        </p:nvSpPr>
        <p:spPr>
          <a:xfrm>
            <a:off x="1641348" y="3792147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smtClean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AIML-C  </a:t>
            </a: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2th </a:t>
            </a:r>
            <a:r>
              <a:rPr lang="en-US" sz="900" b="1" dirty="0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endParaRPr lang="en-US" sz="900" dirty="0"/>
          </a:p>
        </p:txBody>
      </p:sp>
      <p:sp>
        <p:nvSpPr>
          <p:cNvPr id="62" name="Text 15">
            <a:extLst>
              <a:ext uri="{FF2B5EF4-FFF2-40B4-BE49-F238E27FC236}">
                <a16:creationId xmlns:a16="http://schemas.microsoft.com/office/drawing/2014/main" id="{0A7CF0DA-D523-1594-57A1-56FF4B474CC5}"/>
              </a:ext>
            </a:extLst>
          </p:cNvPr>
          <p:cNvSpPr/>
          <p:nvPr/>
        </p:nvSpPr>
        <p:spPr>
          <a:xfrm>
            <a:off x="3726180" y="3552117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smtClean="0"/>
              <a:t>Noman </a:t>
            </a:r>
            <a:r>
              <a:rPr lang="en-US" sz="1100" dirty="0" err="1" smtClean="0"/>
              <a:t>Teli</a:t>
            </a:r>
            <a:endParaRPr lang="en-US" sz="1100" dirty="0"/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6795163E-3485-7220-0296-9DFBCDC8E885}"/>
              </a:ext>
            </a:extLst>
          </p:cNvPr>
          <p:cNvSpPr/>
          <p:nvPr/>
        </p:nvSpPr>
        <p:spPr>
          <a:xfrm>
            <a:off x="4069080" y="3863013"/>
            <a:ext cx="1005840" cy="9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8B68CE36-5055-256A-C313-953075FB373A}"/>
              </a:ext>
            </a:extLst>
          </p:cNvPr>
          <p:cNvSpPr/>
          <p:nvPr/>
        </p:nvSpPr>
        <p:spPr>
          <a:xfrm>
            <a:off x="3726180" y="3792147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smtClean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BCS(Hons.)/ 6th </a:t>
            </a: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endParaRPr lang="en-US" sz="900" dirty="0"/>
          </a:p>
        </p:txBody>
      </p:sp>
      <p:sp>
        <p:nvSpPr>
          <p:cNvPr id="67" name="Text 24">
            <a:extLst>
              <a:ext uri="{FF2B5EF4-FFF2-40B4-BE49-F238E27FC236}">
                <a16:creationId xmlns:a16="http://schemas.microsoft.com/office/drawing/2014/main" id="{8D7F0052-3ED6-7A12-FCC9-E31F4946FFAE}"/>
              </a:ext>
            </a:extLst>
          </p:cNvPr>
          <p:cNvSpPr/>
          <p:nvPr/>
        </p:nvSpPr>
        <p:spPr>
          <a:xfrm>
            <a:off x="5799358" y="3552117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err="1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</a:t>
            </a:r>
            <a:r>
              <a:rPr lang="en-US" sz="1100" dirty="0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100" dirty="0" err="1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arji</a:t>
            </a:r>
            <a:r>
              <a:rPr lang="en-US" sz="1100" dirty="0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8" name="Shape 25">
            <a:extLst>
              <a:ext uri="{FF2B5EF4-FFF2-40B4-BE49-F238E27FC236}">
                <a16:creationId xmlns:a16="http://schemas.microsoft.com/office/drawing/2014/main" id="{7B697CF1-1AB6-BBEE-178F-F23B75B3F8DA}"/>
              </a:ext>
            </a:extLst>
          </p:cNvPr>
          <p:cNvSpPr/>
          <p:nvPr/>
        </p:nvSpPr>
        <p:spPr>
          <a:xfrm>
            <a:off x="6153912" y="3863013"/>
            <a:ext cx="1005840" cy="9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9" name="Text 26">
            <a:extLst>
              <a:ext uri="{FF2B5EF4-FFF2-40B4-BE49-F238E27FC236}">
                <a16:creationId xmlns:a16="http://schemas.microsoft.com/office/drawing/2014/main" id="{94937696-0CB1-1198-0E79-8D288F4CF074}"/>
              </a:ext>
            </a:extLst>
          </p:cNvPr>
          <p:cNvSpPr/>
          <p:nvPr/>
        </p:nvSpPr>
        <p:spPr>
          <a:xfrm>
            <a:off x="5811012" y="3787413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smtClean="0">
                <a:solidFill>
                  <a:srgbClr val="2463EC"/>
                </a:solidFill>
              </a:rPr>
              <a:t>AIML-A/ 4th </a:t>
            </a:r>
            <a:r>
              <a:rPr lang="en-US" sz="900" b="1" dirty="0" err="1" smtClean="0">
                <a:solidFill>
                  <a:srgbClr val="2463EC"/>
                </a:solidFill>
              </a:rPr>
              <a:t>Sem</a:t>
            </a:r>
            <a:endParaRPr lang="en-US" sz="900" b="1" dirty="0">
              <a:solidFill>
                <a:srgbClr val="2463EC"/>
              </a:solidFill>
            </a:endParaRPr>
          </a:p>
        </p:txBody>
      </p:sp>
      <p:sp>
        <p:nvSpPr>
          <p:cNvPr id="97" name="Text 11">
            <a:extLst>
              <a:ext uri="{FF2B5EF4-FFF2-40B4-BE49-F238E27FC236}">
                <a16:creationId xmlns:a16="http://schemas.microsoft.com/office/drawing/2014/main" id="{F78EE01A-1317-C51A-49D8-F243E3EB167D}"/>
              </a:ext>
            </a:extLst>
          </p:cNvPr>
          <p:cNvSpPr/>
          <p:nvPr/>
        </p:nvSpPr>
        <p:spPr>
          <a:xfrm>
            <a:off x="2080260" y="4198893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750" dirty="0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65F41A0-6BF4-2D7A-B512-C348ADF80EB7}"/>
              </a:ext>
            </a:extLst>
          </p:cNvPr>
          <p:cNvGrpSpPr/>
          <p:nvPr/>
        </p:nvGrpSpPr>
        <p:grpSpPr>
          <a:xfrm>
            <a:off x="2160047" y="2849061"/>
            <a:ext cx="653614" cy="653614"/>
            <a:chOff x="2160046" y="1011717"/>
            <a:chExt cx="653614" cy="653614"/>
          </a:xfrm>
        </p:grpSpPr>
        <p:sp>
          <p:nvSpPr>
            <p:cNvPr id="117" name="Shape 4">
              <a:extLst>
                <a:ext uri="{FF2B5EF4-FFF2-40B4-BE49-F238E27FC236}">
                  <a16:creationId xmlns:a16="http://schemas.microsoft.com/office/drawing/2014/main" id="{FA636205-878B-F408-6543-CECE96ECCC22}"/>
                </a:ext>
              </a:extLst>
            </p:cNvPr>
            <p:cNvSpPr/>
            <p:nvPr/>
          </p:nvSpPr>
          <p:spPr>
            <a:xfrm>
              <a:off x="2160046" y="1011717"/>
              <a:ext cx="653614" cy="653614"/>
            </a:xfrm>
            <a:prstGeom prst="ellipse">
              <a:avLst/>
            </a:prstGeom>
            <a:solidFill>
              <a:srgbClr val="1E395F"/>
            </a:solidFill>
            <a:ln w="31750">
              <a:solidFill>
                <a:schemeClr val="accent4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8" name="Text 5">
              <a:extLst>
                <a:ext uri="{FF2B5EF4-FFF2-40B4-BE49-F238E27FC236}">
                  <a16:creationId xmlns:a16="http://schemas.microsoft.com/office/drawing/2014/main" id="{3FBE0852-05B5-5F7C-4BEF-43E0AE07BD3C}"/>
                </a:ext>
              </a:extLst>
            </p:cNvPr>
            <p:cNvSpPr/>
            <p:nvPr/>
          </p:nvSpPr>
          <p:spPr>
            <a:xfrm>
              <a:off x="2160046" y="1011717"/>
              <a:ext cx="653614" cy="65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N</a:t>
              </a:r>
              <a:r>
                <a:rPr lang="en-US" b="1" dirty="0" smtClean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S</a:t>
              </a:r>
              <a:endParaRPr lang="en-US" dirty="0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9D87D8D-EAA9-1E19-EF02-BC25C2CE71A4}"/>
              </a:ext>
            </a:extLst>
          </p:cNvPr>
          <p:cNvGrpSpPr/>
          <p:nvPr/>
        </p:nvGrpSpPr>
        <p:grpSpPr>
          <a:xfrm>
            <a:off x="4244879" y="2849061"/>
            <a:ext cx="653614" cy="653614"/>
            <a:chOff x="4244878" y="1011717"/>
            <a:chExt cx="653614" cy="653614"/>
          </a:xfrm>
        </p:grpSpPr>
        <p:sp>
          <p:nvSpPr>
            <p:cNvPr id="120" name="Shape 13">
              <a:extLst>
                <a:ext uri="{FF2B5EF4-FFF2-40B4-BE49-F238E27FC236}">
                  <a16:creationId xmlns:a16="http://schemas.microsoft.com/office/drawing/2014/main" id="{35C17541-8CE9-8945-94D2-50A2CEFB9D9A}"/>
                </a:ext>
              </a:extLst>
            </p:cNvPr>
            <p:cNvSpPr/>
            <p:nvPr/>
          </p:nvSpPr>
          <p:spPr>
            <a:xfrm>
              <a:off x="4244878" y="1011717"/>
              <a:ext cx="653614" cy="653614"/>
            </a:xfrm>
            <a:prstGeom prst="ellipse">
              <a:avLst/>
            </a:prstGeom>
            <a:solidFill>
              <a:srgbClr val="1E3A5F"/>
            </a:solidFill>
            <a:ln w="31750">
              <a:solidFill>
                <a:schemeClr val="accent2"/>
              </a:solidFill>
              <a:prstDash val="solid"/>
            </a:ln>
          </p:spPr>
        </p:sp>
        <p:sp>
          <p:nvSpPr>
            <p:cNvPr id="121" name="Text 14">
              <a:extLst>
                <a:ext uri="{FF2B5EF4-FFF2-40B4-BE49-F238E27FC236}">
                  <a16:creationId xmlns:a16="http://schemas.microsoft.com/office/drawing/2014/main" id="{888FB77F-59D4-8C03-3477-7A1342FBA671}"/>
                </a:ext>
              </a:extLst>
            </p:cNvPr>
            <p:cNvSpPr/>
            <p:nvPr/>
          </p:nvSpPr>
          <p:spPr>
            <a:xfrm>
              <a:off x="4244878" y="1011717"/>
              <a:ext cx="653614" cy="65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NT</a:t>
              </a:r>
              <a:endParaRPr lang="en-US" dirty="0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AFE43D1-7702-7C2A-6675-6557CDE3B4E3}"/>
              </a:ext>
            </a:extLst>
          </p:cNvPr>
          <p:cNvGrpSpPr/>
          <p:nvPr/>
        </p:nvGrpSpPr>
        <p:grpSpPr>
          <a:xfrm>
            <a:off x="6329711" y="2849061"/>
            <a:ext cx="653614" cy="653614"/>
            <a:chOff x="6329710" y="1011717"/>
            <a:chExt cx="653614" cy="653614"/>
          </a:xfrm>
        </p:grpSpPr>
        <p:sp>
          <p:nvSpPr>
            <p:cNvPr id="123" name="Shape 22">
              <a:extLst>
                <a:ext uri="{FF2B5EF4-FFF2-40B4-BE49-F238E27FC236}">
                  <a16:creationId xmlns:a16="http://schemas.microsoft.com/office/drawing/2014/main" id="{AD052F74-6068-159A-4794-195F8DFDEFE3}"/>
                </a:ext>
              </a:extLst>
            </p:cNvPr>
            <p:cNvSpPr/>
            <p:nvPr/>
          </p:nvSpPr>
          <p:spPr>
            <a:xfrm>
              <a:off x="6329710" y="1011717"/>
              <a:ext cx="653614" cy="653614"/>
            </a:xfrm>
            <a:prstGeom prst="ellipse">
              <a:avLst/>
            </a:prstGeom>
            <a:solidFill>
              <a:srgbClr val="1E3A5F"/>
            </a:solidFill>
            <a:ln w="31750">
              <a:solidFill>
                <a:schemeClr val="accent4"/>
              </a:solidFill>
              <a:prstDash val="solid"/>
            </a:ln>
          </p:spPr>
        </p:sp>
        <p:sp>
          <p:nvSpPr>
            <p:cNvPr id="124" name="Text 23">
              <a:extLst>
                <a:ext uri="{FF2B5EF4-FFF2-40B4-BE49-F238E27FC236}">
                  <a16:creationId xmlns:a16="http://schemas.microsoft.com/office/drawing/2014/main" id="{B36B2383-74E0-8F1C-CB40-D5C9C225F204}"/>
                </a:ext>
              </a:extLst>
            </p:cNvPr>
            <p:cNvSpPr/>
            <p:nvPr/>
          </p:nvSpPr>
          <p:spPr>
            <a:xfrm>
              <a:off x="6329710" y="1011717"/>
              <a:ext cx="653614" cy="653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HD</a:t>
              </a:r>
              <a:endParaRPr lang="en-US" dirty="0"/>
            </a:p>
          </p:txBody>
        </p:sp>
      </p:grpSp>
      <p:sp>
        <p:nvSpPr>
          <p:cNvPr id="125" name="Text 24">
            <a:extLst>
              <a:ext uri="{FF2B5EF4-FFF2-40B4-BE49-F238E27FC236}">
                <a16:creationId xmlns:a16="http://schemas.microsoft.com/office/drawing/2014/main" id="{2B7EF45A-AA38-27DD-BE57-B1D0ECD47517}"/>
              </a:ext>
            </a:extLst>
          </p:cNvPr>
          <p:cNvSpPr/>
          <p:nvPr/>
        </p:nvSpPr>
        <p:spPr>
          <a:xfrm>
            <a:off x="1650492" y="1691463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smtClean="0"/>
              <a:t>Saud Rana</a:t>
            </a:r>
            <a:endParaRPr lang="en-US" sz="1100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9921D6E-045A-038E-AC77-99A32B69145B}"/>
              </a:ext>
            </a:extLst>
          </p:cNvPr>
          <p:cNvGrpSpPr/>
          <p:nvPr/>
        </p:nvGrpSpPr>
        <p:grpSpPr>
          <a:xfrm>
            <a:off x="4169350" y="2340531"/>
            <a:ext cx="804672" cy="275176"/>
            <a:chOff x="2080260" y="2361261"/>
            <a:chExt cx="804672" cy="256032"/>
          </a:xfrm>
        </p:grpSpPr>
        <p:sp>
          <p:nvSpPr>
            <p:cNvPr id="66" name="Shape 10">
              <a:hlinkClick r:id="rId3"/>
            </p:cNvPr>
            <p:cNvSpPr/>
            <p:nvPr/>
          </p:nvSpPr>
          <p:spPr>
            <a:xfrm>
              <a:off x="2080260" y="2361261"/>
              <a:ext cx="804672" cy="256032"/>
            </a:xfrm>
            <a:prstGeom prst="roundRect">
              <a:avLst>
                <a:gd name="adj" fmla="val 1785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70" name="Text 11"/>
            <p:cNvSpPr/>
            <p:nvPr/>
          </p:nvSpPr>
          <p:spPr>
            <a:xfrm>
              <a:off x="2080260" y="2361261"/>
              <a:ext cx="80467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5"/>
                </a:rPr>
                <a:t>LinkedIn</a:t>
              </a:r>
              <a:r>
                <a:rPr lang="en-US" sz="7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75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↗</a:t>
              </a:r>
              <a:endParaRPr lang="en-US" sz="75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9921D6E-045A-038E-AC77-99A32B69145B}"/>
              </a:ext>
            </a:extLst>
          </p:cNvPr>
          <p:cNvGrpSpPr/>
          <p:nvPr/>
        </p:nvGrpSpPr>
        <p:grpSpPr>
          <a:xfrm>
            <a:off x="6341364" y="2345474"/>
            <a:ext cx="804672" cy="275176"/>
            <a:chOff x="2080260" y="2361261"/>
            <a:chExt cx="804672" cy="256032"/>
          </a:xfrm>
        </p:grpSpPr>
        <p:sp>
          <p:nvSpPr>
            <p:cNvPr id="76" name="Shape 10">
              <a:hlinkClick r:id="rId3"/>
            </p:cNvPr>
            <p:cNvSpPr/>
            <p:nvPr/>
          </p:nvSpPr>
          <p:spPr>
            <a:xfrm>
              <a:off x="2080260" y="2361261"/>
              <a:ext cx="804672" cy="256032"/>
            </a:xfrm>
            <a:prstGeom prst="roundRect">
              <a:avLst>
                <a:gd name="adj" fmla="val 1785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77" name="Text 11"/>
            <p:cNvSpPr/>
            <p:nvPr/>
          </p:nvSpPr>
          <p:spPr>
            <a:xfrm>
              <a:off x="2080260" y="2361261"/>
              <a:ext cx="80467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50" b="1" u="sng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LinkedIn</a:t>
              </a:r>
              <a:r>
                <a:rPr lang="en-US" sz="7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75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↗</a:t>
              </a:r>
              <a:endParaRPr lang="en-US" sz="75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9921D6E-045A-038E-AC77-99A32B69145B}"/>
              </a:ext>
            </a:extLst>
          </p:cNvPr>
          <p:cNvGrpSpPr/>
          <p:nvPr/>
        </p:nvGrpSpPr>
        <p:grpSpPr>
          <a:xfrm>
            <a:off x="6271751" y="4256574"/>
            <a:ext cx="804672" cy="275176"/>
            <a:chOff x="2080260" y="2361261"/>
            <a:chExt cx="804672" cy="256032"/>
          </a:xfrm>
        </p:grpSpPr>
        <p:sp>
          <p:nvSpPr>
            <p:cNvPr id="79" name="Shape 10">
              <a:hlinkClick r:id="rId3"/>
            </p:cNvPr>
            <p:cNvSpPr/>
            <p:nvPr/>
          </p:nvSpPr>
          <p:spPr>
            <a:xfrm>
              <a:off x="2080260" y="2361261"/>
              <a:ext cx="804672" cy="256032"/>
            </a:xfrm>
            <a:prstGeom prst="roundRect">
              <a:avLst>
                <a:gd name="adj" fmla="val 1785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80" name="Text 11"/>
            <p:cNvSpPr/>
            <p:nvPr/>
          </p:nvSpPr>
          <p:spPr>
            <a:xfrm>
              <a:off x="2080260" y="2361261"/>
              <a:ext cx="80467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6"/>
                </a:rPr>
                <a:t>LinkedIn</a:t>
              </a:r>
              <a:r>
                <a:rPr lang="en-US" sz="7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75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↗</a:t>
              </a:r>
              <a:endParaRPr lang="en-US" sz="75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9921D6E-045A-038E-AC77-99A32B69145B}"/>
              </a:ext>
            </a:extLst>
          </p:cNvPr>
          <p:cNvGrpSpPr/>
          <p:nvPr/>
        </p:nvGrpSpPr>
        <p:grpSpPr>
          <a:xfrm>
            <a:off x="4140170" y="4235873"/>
            <a:ext cx="804672" cy="275176"/>
            <a:chOff x="2080260" y="2361261"/>
            <a:chExt cx="804672" cy="256032"/>
          </a:xfrm>
        </p:grpSpPr>
        <p:sp>
          <p:nvSpPr>
            <p:cNvPr id="82" name="Shape 10">
              <a:hlinkClick r:id="rId3"/>
            </p:cNvPr>
            <p:cNvSpPr/>
            <p:nvPr/>
          </p:nvSpPr>
          <p:spPr>
            <a:xfrm>
              <a:off x="2080260" y="2361261"/>
              <a:ext cx="804672" cy="256032"/>
            </a:xfrm>
            <a:prstGeom prst="roundRect">
              <a:avLst>
                <a:gd name="adj" fmla="val 1785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83" name="Text 11"/>
            <p:cNvSpPr/>
            <p:nvPr/>
          </p:nvSpPr>
          <p:spPr>
            <a:xfrm>
              <a:off x="2080260" y="2361261"/>
              <a:ext cx="80467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7"/>
                </a:rPr>
                <a:t>LinkedIn</a:t>
              </a:r>
              <a:r>
                <a:rPr lang="en-US" sz="7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75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↗</a:t>
              </a:r>
              <a:endParaRPr lang="en-US" sz="75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9921D6E-045A-038E-AC77-99A32B69145B}"/>
              </a:ext>
            </a:extLst>
          </p:cNvPr>
          <p:cNvGrpSpPr/>
          <p:nvPr/>
        </p:nvGrpSpPr>
        <p:grpSpPr>
          <a:xfrm>
            <a:off x="2093976" y="4247002"/>
            <a:ext cx="804672" cy="275176"/>
            <a:chOff x="2080260" y="2361261"/>
            <a:chExt cx="804672" cy="256032"/>
          </a:xfrm>
        </p:grpSpPr>
        <p:sp>
          <p:nvSpPr>
            <p:cNvPr id="85" name="Shape 10">
              <a:hlinkClick r:id="rId3"/>
            </p:cNvPr>
            <p:cNvSpPr/>
            <p:nvPr/>
          </p:nvSpPr>
          <p:spPr>
            <a:xfrm>
              <a:off x="2080260" y="2361261"/>
              <a:ext cx="804672" cy="256032"/>
            </a:xfrm>
            <a:prstGeom prst="roundRect">
              <a:avLst>
                <a:gd name="adj" fmla="val 1785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86" name="Text 11"/>
            <p:cNvSpPr/>
            <p:nvPr/>
          </p:nvSpPr>
          <p:spPr>
            <a:xfrm>
              <a:off x="2080260" y="2361261"/>
              <a:ext cx="80467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8"/>
                </a:rPr>
                <a:t>LinkedIn</a:t>
              </a:r>
              <a:r>
                <a:rPr lang="en-US" sz="7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75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↗</a:t>
              </a:r>
              <a:endParaRPr lang="en-US" sz="75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811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3657600" cy="36576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technology that saves lives.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633472"/>
            <a:ext cx="27432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834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</a:t>
            </a:r>
            <a:r>
              <a:rPr lang="en-US" sz="13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cortexai920@gmail.com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32186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https://github.com/Rana786rssaud/Cortex_core-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36027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434340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4343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Q&amp;A — We're ready!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1102</Words>
  <Application>Microsoft Office PowerPoint</Application>
  <PresentationFormat>On-screen Show (16:9)</PresentationFormat>
  <Paragraphs>253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36-Hour Hackathon – Ideation Round</dc:title>
  <dc:subject>PptxGenJS Presentation</dc:subject>
  <dc:creator>PptxGenJS</dc:creator>
  <cp:lastModifiedBy>ASUS TUF</cp:lastModifiedBy>
  <cp:revision>16</cp:revision>
  <dcterms:created xsi:type="dcterms:W3CDTF">2026-04-08T17:53:04Z</dcterms:created>
  <dcterms:modified xsi:type="dcterms:W3CDTF">2026-04-09T14:07:01Z</dcterms:modified>
</cp:coreProperties>
</file>